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c38a2c1404439" /><Relationship Type="http://schemas.openxmlformats.org/officeDocument/2006/relationships/extended-properties" Target="/docProps/app.xml" Id="Rfedec22fc7634908" /><Relationship Type="http://schemas.openxmlformats.org/officeDocument/2006/relationships/officeDocument" Target="/ppt/presentation.xml" Id="Ra068885c1173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90cea0afc42a3"/>
  </p:sldMasterIdLst>
  <p:notesMasterIdLst>
    <p:notesMasterId xmlns:r="http://schemas.openxmlformats.org/officeDocument/2006/relationships" r:id="Rc53dfda5c43d4d89"/>
  </p:notesMasterIdLst>
  <p:sldIdLst>
    <p:sldId xmlns:r="http://schemas.openxmlformats.org/officeDocument/2006/relationships" id="256" r:id="Rb24140b03dfd43cf"/>
    <p:sldId xmlns:r="http://schemas.openxmlformats.org/officeDocument/2006/relationships" id="257" r:id="R38bcc296917d4ed9"/>
    <p:sldId xmlns:r="http://schemas.openxmlformats.org/officeDocument/2006/relationships" id="258" r:id="R34dc314143c94eef"/>
    <p:sldId xmlns:r="http://schemas.openxmlformats.org/officeDocument/2006/relationships" id="259" r:id="Rea07aebce99f46a2"/>
    <p:sldId xmlns:r="http://schemas.openxmlformats.org/officeDocument/2006/relationships" id="260" r:id="Ra11c22563e8548e6"/>
    <p:sldId xmlns:r="http://schemas.openxmlformats.org/officeDocument/2006/relationships" id="261" r:id="R3b74f259d2d6479b"/>
    <p:sldId xmlns:r="http://schemas.openxmlformats.org/officeDocument/2006/relationships" id="262" r:id="R823f82f980da429e"/>
    <p:sldId xmlns:r="http://schemas.openxmlformats.org/officeDocument/2006/relationships" id="263" r:id="R65da66351116479f"/>
    <p:sldId xmlns:r="http://schemas.openxmlformats.org/officeDocument/2006/relationships" id="264" r:id="R8069555b2f914d40"/>
    <p:sldId xmlns:r="http://schemas.openxmlformats.org/officeDocument/2006/relationships" id="265" r:id="R78868710382d4427"/>
    <p:sldId xmlns:r="http://schemas.openxmlformats.org/officeDocument/2006/relationships" id="266" r:id="R8b707582613b49dd"/>
    <p:sldId xmlns:r="http://schemas.openxmlformats.org/officeDocument/2006/relationships" id="267" r:id="R2d76ed7f0ac3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ac467935a4ea7" /><Relationship Type="http://schemas.openxmlformats.org/officeDocument/2006/relationships/slideMaster" Target="/ppt/slideMasters/slideMaster1.xml" Id="R0df90cea0afc42a3" /><Relationship Type="http://schemas.openxmlformats.org/officeDocument/2006/relationships/notesMaster" Target="/ppt/notesMasters/notesMaster1.xml" Id="Rc53dfda5c43d4d89" /><Relationship Type="http://schemas.openxmlformats.org/officeDocument/2006/relationships/presProps" Target="/ppt/presProps.xml" Id="R21e14f3a8ca54cf9" /><Relationship Type="http://schemas.openxmlformats.org/officeDocument/2006/relationships/tableStyles" Target="/ppt/tableStyles.xml" Id="Rce7dd3a8234343fb" /><Relationship Type="http://schemas.openxmlformats.org/officeDocument/2006/relationships/slide" Target="/ppt/slides/slide1.xml" Id="Rb24140b03dfd43cf" /><Relationship Type="http://schemas.openxmlformats.org/officeDocument/2006/relationships/slide" Target="/ppt/slides/slide2.xml" Id="R38bcc296917d4ed9" /><Relationship Type="http://schemas.openxmlformats.org/officeDocument/2006/relationships/slide" Target="/ppt/slides/slide3.xml" Id="R34dc314143c94eef" /><Relationship Type="http://schemas.openxmlformats.org/officeDocument/2006/relationships/slide" Target="/ppt/slides/slide4.xml" Id="Rea07aebce99f46a2" /><Relationship Type="http://schemas.openxmlformats.org/officeDocument/2006/relationships/slide" Target="/ppt/slides/slide5.xml" Id="Ra11c22563e8548e6" /><Relationship Type="http://schemas.openxmlformats.org/officeDocument/2006/relationships/slide" Target="/ppt/slides/slide6.xml" Id="R3b74f259d2d6479b" /><Relationship Type="http://schemas.openxmlformats.org/officeDocument/2006/relationships/slide" Target="/ppt/slides/slide7.xml" Id="R823f82f980da429e" /><Relationship Type="http://schemas.openxmlformats.org/officeDocument/2006/relationships/slide" Target="/ppt/slides/slide8.xml" Id="R65da66351116479f" /><Relationship Type="http://schemas.openxmlformats.org/officeDocument/2006/relationships/slide" Target="/ppt/slides/slide9.xml" Id="R8069555b2f914d40" /><Relationship Type="http://schemas.openxmlformats.org/officeDocument/2006/relationships/slide" Target="/ppt/slides/slide10.xml" Id="R78868710382d4427" /><Relationship Type="http://schemas.openxmlformats.org/officeDocument/2006/relationships/slide" Target="/ppt/slides/slide11.xml" Id="R8b707582613b49dd" /><Relationship Type="http://schemas.openxmlformats.org/officeDocument/2006/relationships/slide" Target="/ppt/slides/slide12.xml" Id="R2d76ed7f0ac3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a2dcecc77e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77a9e212b049df" /><Relationship Type="http://schemas.openxmlformats.org/officeDocument/2006/relationships/notesMaster" Target="/ppt/notesMasters/notesMaster1.xml" Id="R4bef121efb4e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28d46d6d324131" /><Relationship Type="http://schemas.openxmlformats.org/officeDocument/2006/relationships/notesMaster" Target="/ppt/notesMasters/notesMaster1.xml" Id="Reb9fc9c7b7cf4a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364bc1fb24832" /><Relationship Type="http://schemas.openxmlformats.org/officeDocument/2006/relationships/notesMaster" Target="/ppt/notesMasters/notesMaster1.xml" Id="R89e1ccfaa9cb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e6ac41b0a14d15" /><Relationship Type="http://schemas.openxmlformats.org/officeDocument/2006/relationships/notesMaster" Target="/ppt/notesMasters/notesMaster1.xml" Id="R9ec619f6cd8f44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a6593fcaf74618" /><Relationship Type="http://schemas.openxmlformats.org/officeDocument/2006/relationships/notesMaster" Target="/ppt/notesMasters/notesMaster1.xml" Id="R39e283e0d597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79a9b868f42e3" /><Relationship Type="http://schemas.openxmlformats.org/officeDocument/2006/relationships/notesMaster" Target="/ppt/notesMasters/notesMaster1.xml" Id="Rbe894775cd05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7ee8635ff7471a" /><Relationship Type="http://schemas.openxmlformats.org/officeDocument/2006/relationships/notesMaster" Target="/ppt/notesMasters/notesMaster1.xml" Id="R0ea6deab6c7247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4ac472946f4ea0" /><Relationship Type="http://schemas.openxmlformats.org/officeDocument/2006/relationships/notesMaster" Target="/ppt/notesMasters/notesMaster1.xml" Id="R2d5a75e44ceb47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88c8d5f78c4efa" /><Relationship Type="http://schemas.openxmlformats.org/officeDocument/2006/relationships/notesMaster" Target="/ppt/notesMasters/notesMaster1.xml" Id="Rd7fd38958f9b43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3211dffa0940fe" /><Relationship Type="http://schemas.openxmlformats.org/officeDocument/2006/relationships/notesMaster" Target="/ppt/notesMasters/notesMaster1.xml" Id="R3fa71039b82e4c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84e79e61d243e4" /><Relationship Type="http://schemas.openxmlformats.org/officeDocument/2006/relationships/notesMaster" Target="/ppt/notesMasters/notesMaster1.xml" Id="Rf7a4741219a846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cd38c5d5e344c1" /><Relationship Type="http://schemas.openxmlformats.org/officeDocument/2006/relationships/notesMaster" Target="/ppt/notesMasters/notesMaster1.xml" Id="R0df10f6a4e8742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d5153789b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14d5f6af174161" /><Relationship Type="http://schemas.openxmlformats.org/officeDocument/2006/relationships/slideLayout" Target="/ppt/slideLayouts/slideLayout1.xml" Id="R80d8eef166db45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8eef166db45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0a008f33f403c" /><Relationship Type="http://schemas.openxmlformats.org/officeDocument/2006/relationships/notesSlide" Target="/ppt/notesSlides/notesSlide1.xml" Id="Rc82bcb85fb0340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c705300db4c67" /><Relationship Type="http://schemas.openxmlformats.org/officeDocument/2006/relationships/notesSlide" Target="/ppt/notesSlides/notesSlide2.xml" Id="R920f1fa77b53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d3a95f4804d9f" /><Relationship Type="http://schemas.openxmlformats.org/officeDocument/2006/relationships/notesSlide" Target="/ppt/notesSlides/notesSlide3.xml" Id="Redea7065fb1b4c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129f8a304110" /><Relationship Type="http://schemas.openxmlformats.org/officeDocument/2006/relationships/image" Target="/ppt/media/image.png" Id="R8b6d2bcd6e404271" /><Relationship Type="http://schemas.openxmlformats.org/officeDocument/2006/relationships/notesSlide" Target="/ppt/notesSlides/notesSlide4.xml" Id="R224ceb3bc6ec44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5429cdfdb4715" /><Relationship Type="http://schemas.openxmlformats.org/officeDocument/2006/relationships/image" Target="/ppt/media/image2.png" Id="Rf833dcf9ed534b29" /><Relationship Type="http://schemas.openxmlformats.org/officeDocument/2006/relationships/notesSlide" Target="/ppt/notesSlides/notesSlide5.xml" Id="Rb80acb04380747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db9e070764e9e" /><Relationship Type="http://schemas.openxmlformats.org/officeDocument/2006/relationships/notesSlide" Target="/ppt/notesSlides/notesSlide6.xml" Id="Rfc7a55c8feb0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75ba09e6b49ff" /><Relationship Type="http://schemas.openxmlformats.org/officeDocument/2006/relationships/notesSlide" Target="/ppt/notesSlides/notesSlide7.xml" Id="R40fa997191db40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4138bccdb4430" /><Relationship Type="http://schemas.openxmlformats.org/officeDocument/2006/relationships/notesSlide" Target="/ppt/notesSlides/notesSlide8.xml" Id="Rc1ee35ee6ce940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245cd97c40bc" /><Relationship Type="http://schemas.openxmlformats.org/officeDocument/2006/relationships/notesSlide" Target="/ppt/notesSlides/notesSlide9.xml" Id="Re682e3513a4e47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96d0a4c834ca3" /><Relationship Type="http://schemas.openxmlformats.org/officeDocument/2006/relationships/notesSlide" Target="/ppt/notesSlides/notesSlide10.xml" Id="R38b9e32da9f942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09185b390440d" /><Relationship Type="http://schemas.openxmlformats.org/officeDocument/2006/relationships/notesSlide" Target="/ppt/notesSlides/notesSlide11.xml" Id="R1deb4293c9fa41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9d8128694b78" /><Relationship Type="http://schemas.openxmlformats.org/officeDocument/2006/relationships/notesSlide" Target="/ppt/notesSlides/notesSlide12.xml" Id="R135c794c818c4f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EEB93-F162-4ABD-B6C4-9B0980CA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7760-78A2-43ED-927A-C06C2770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2E6B4F"/>
                </a:solidFill>
              </a:defRPr>
            </a:pPr>
            <a:r>
              <a:rPr sz="6900" b="1">
                <a:solidFill>
                  <a:srgbClr val="2E6B4F"/>
                </a:solidFill>
              </a:rPr>
              <a:t>杏坛智备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E1156-ECEB-466C-AE70-C4DFA81E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C2C2C"/>
                </a:solidFill>
              </a:defRPr>
            </a:pPr>
            <a:r>
              <a:rPr sz="2850" b="1">
                <a:solidFill>
                  <a:srgbClr val="2C2C2C"/>
                </a:solidFill>
              </a:rPr>
              <a:t>乡村教师 AI 备课助手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5ECBC-40DD-434F-96B5-0E9DB0E5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4C38"/>
                </a:solidFill>
              </a:defRPr>
            </a:pPr>
            <a:r>
              <a:rPr sz="2100" b="1">
                <a:solidFill>
                  <a:srgbClr val="244C38"/>
                </a:solidFill>
              </a:rPr>
              <a:t>让乡村教师备课时间从 2 小时到 20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1221C-506C-4FD9-8536-56A413D7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A8A8A"/>
                </a:solidFill>
              </a:defRPr>
            </a:pPr>
            <a:r>
              <a:rPr sz="1650" b="0">
                <a:solidFill>
                  <a:srgbClr val="8A8A8A"/>
                </a:solidFill>
              </a:rPr>
              <a:t>让每一节乡村课都备得起、备得好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4842B-4915-484B-BA56-AC9ECD8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5334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06F7B-9C52-4494-9C4A-AD338A0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C38"/>
                </a:solidFill>
              </a:defRPr>
            </a:pPr>
            <a:r>
              <a:rPr sz="1500" b="1">
                <a:solidFill>
                  <a:srgbClr val="244C38"/>
                </a:solidFill>
              </a:rPr>
              <a:t>中国国际大学生创新大赛（2027）· 青年红色筑梦之旅 · 创意组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4F1DA-A194-4404-8BD8-365D9EF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5FB08-E027-4CC1-A3D3-F166BD84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788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9BD75-FA3D-4F97-BB6A-58D252B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9FC23-7949-4976-AA24-797AB1E4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乡村教师的三重困境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5A6A2-446E-4990-960C-98953CD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08794-F90B-4E0B-B105-879EFC5C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E6B4F"/>
                </a:solidFill>
              </a:defRPr>
            </a:pPr>
            <a:r>
              <a:rPr sz="3300" b="1">
                <a:solidFill>
                  <a:srgbClr val="2E6B4F"/>
                </a:solidFill>
              </a:rPr>
              <a:t>1069.76万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2C44D-B237-4E83-85A7-B652F49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全国义务教育专任教师（2025年统计公报）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B5E6-98F8-40EB-9A43-60AC23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387E5-A2FF-46E9-88F7-E4064BB4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0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E6B4F"/>
                </a:solidFill>
              </a:defRPr>
            </a:pPr>
            <a:r>
              <a:rPr sz="3300" b="1">
                <a:solidFill>
                  <a:srgbClr val="2E6B4F"/>
                </a:solidFill>
              </a:rPr>
              <a:t>18.00万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C5D00-A638-4777-B28A-5E02B57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义务教育阶段学校，乡村校点多且分散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2C2F0-9E73-4B43-83A9-0D16962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BB0EE-7312-46B2-A4A1-F3240543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E6B4F"/>
                </a:solidFill>
              </a:defRPr>
            </a:pPr>
            <a:r>
              <a:rPr sz="3300" b="1">
                <a:solidFill>
                  <a:srgbClr val="2E6B4F"/>
                </a:solidFill>
              </a:rPr>
              <a:t>2~3小时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B1E12-8600-4829-B22E-5D70BF39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多学科教师单课备课耗时，是首要压力来源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9175D-D82B-46DD-81BA-3FB8D03B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痛点：备课负担重（一人多科、跨年级代课）· 资源获取难（优质教案与乡村学情不匹配）· 新课标落地难（核心素养导向设计缺乏教研支持）· 课件制作耗时（单课 PPT 1~2 小时）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D0F14-AB05-45EF-91F5-DAE8EDD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70177-5C17-429F-AE55-34FC0D71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1553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33FB0-65E9-4CC9-A872-01E3B3C8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E85C2-E326-4119-82A7-67F32BE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解决方案：AI 备课工作台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0E73F-2E79-4D5A-9825-F9D86BE3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A8A8A"/>
                </a:solidFill>
              </a:defRPr>
            </a:pPr>
            <a:r>
              <a:rPr sz="1500" b="0">
                <a:solidFill>
                  <a:srgbClr val="8A8A8A"/>
                </a:solidFill>
              </a:rPr>
              <a:t>输入课题 → 系统自动对齐课标、召回教材与乡土案例 → 30 秒生成教案 → 一键导出 AI 美化课件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A6F2F-3604-4481-8A00-DE3A660A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21405-615A-42D4-A4DF-57FA4DC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1 输入课题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8F767-6550-4143-AC66-68787772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学科·年级·教材版本·课型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41486-82B6-47D5-B9A2-3C8F94A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3A03C"/>
                </a:solidFill>
              </a:defRPr>
            </a:pPr>
            <a:r>
              <a:rPr sz="2100" b="1">
                <a:solidFill>
                  <a:srgbClr val="E3A03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3A94A-FF8C-4796-8CE3-60F4BB0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CFE0F-2537-43C7-990D-070DBED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2 知识召回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39C73-0A72-45A6-AFB9-929D6C3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课标条目/教材目录/乡土案例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FC9D9-4AC4-4029-BD14-56C1F6A0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3A03C"/>
                </a:solidFill>
              </a:defRPr>
            </a:pPr>
            <a:r>
              <a:rPr sz="2100" b="1">
                <a:solidFill>
                  <a:srgbClr val="E3A03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1B392-CE35-4761-BCDC-77F20B7A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C190A-1B44-4B54-97F2-3A653EBC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3 AI 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6E2E0-46D5-407D-96AC-6F175051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教案 + 课件方案 + 讲稿提示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042FF-E991-47D6-AB11-016DFEB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3A03C"/>
                </a:solidFill>
              </a:defRPr>
            </a:pPr>
            <a:r>
              <a:rPr sz="2100" b="1">
                <a:solidFill>
                  <a:srgbClr val="E3A03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7C48B-59E2-44E8-BFF1-8E253C7F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68974-AD7B-413B-ACD3-4A2DF4F0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4 编辑导出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CCAB4-BF77-4CE4-A2C7-CBC123E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AI 追问修改·美化 PPT/文档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4E521-03C2-4163-8D48-D1D7C59D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4A3CD-43CD-4361-9451-9716F385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4C38"/>
                </a:solidFill>
              </a:defRPr>
            </a:pPr>
            <a:r>
              <a:rPr sz="1425" b="1">
                <a:solidFill>
                  <a:srgbClr val="244C38"/>
                </a:solidFill>
              </a:rPr>
              <a:t>差异化：新课标对齐引擎 · 教材版本自适应 · 乡村场景引擎 · 课件导入分析 · AI 美化课件 · 教师共创数据飞轮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E3CB0-DA5D-4521-AB5C-3122EDCA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26167-9909-4760-859E-1D1641AF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3633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4111C-95E5-449B-9E9F-CAE3EFA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699FA-6AE8-43F1-BFA6-D38682D5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C2C2C"/>
                </a:solidFill>
              </a:defRPr>
            </a:pPr>
            <a:r>
              <a:rPr sz="3000" b="1">
                <a:solidFill>
                  <a:srgbClr val="2C2C2C"/>
                </a:solidFill>
              </a:rPr>
              <a:t>现场演示一：30 秒生成对齐课标的教案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7B3AB-3809-4168-A6F7-FDDAE56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语音输入课题《背影》第一课时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56E51-C099-4429-96E8-A65690E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流式生成完整教案（约 30 秒）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A706-F76D-4E93-B252-5614981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展开「课标依据卡片」核对依据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D29A6-9156-47BF-808D-007BB75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AI 对话：换成乡土案例导入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6411C-B94C-4CEA-BCAD-41AEB05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每区块可重新生成 / AI 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B3948-6343-4895-A5BD-47E8300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保存：云端 + 本地一键备份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d2bcd6e404271"/>
          <a:srcRect xmlns:a="http://schemas.openxmlformats.org/drawingml/2006/main" l="0" t="29117" r="0" b="29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333500"/>
            <a:ext cx="49530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47D88-DB17-4708-9073-5459B484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C457A-8201-41CC-A886-7578E84B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2303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369D7-C604-48F8-83A2-A98E2DC3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2E29C-1E75-48F2-BF80-DD38EDD2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C2C2C"/>
                </a:solidFill>
              </a:defRPr>
            </a:pPr>
            <a:r>
              <a:rPr sz="3000" b="1">
                <a:solidFill>
                  <a:srgbClr val="2C2C2C"/>
                </a:solidFill>
              </a:rPr>
              <a:t>现场演示二：旧课件一键升级新课标课件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95142-9B0C-4DA7-A053-DF7265C1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拖入老师自己的旧 PPT / 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836F0-33D8-429F-BA6E-36A12BD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AI 抽取内容并生成分析报告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364F-3879-456F-9C94-F33960ED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输出教案建议 + PPT 制作大纲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29550-2026-4ADE-93B7-D858C073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一键生成 12~16 页美化课件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19CAF-DC78-404E-A368-B26685B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每页含要点、讲稿提示、配图建议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C5E18-86FE-4994-B4E2-50E3AC5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✓  品牌版式：封面/导航/活动/小结/结尾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3dcf9ed534b29"/>
          <a:srcRect xmlns:a="http://schemas.openxmlformats.org/drawingml/2006/main" l="0" t="29117" r="0" b="29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333500"/>
            <a:ext cx="49530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04212-3220-48EE-A013-2B45DE3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7EFFC-09FB-4D42-A1C6-6C074D1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4958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5B955-78CE-4658-99D0-5FB43DA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88CFF-D51D-4995-8255-05224A63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完整能力地图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A9C48-3B66-47A7-AC8F-8F16B34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16B39-9BE4-4523-9D17-3114B5BC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📝 AI 教案生成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37F84-A7CC-4AAB-913B-9B561AF2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新课标对齐 · 课标依据卡片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688EF-C2CC-4DC9-802A-5AA2CF5F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A5AE3-BEF0-4834-A2D4-1C1D3BEB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🧮 习题与组卷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7D80D-DA60-4B0C-A9CF-CAA7F07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按知识点出题 · 单元测试卷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2873E-2D31-4773-AF71-014299FF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EF882-5447-46D1-A2B7-9D015B50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📊 班级学情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EE93F-2EF1-4BFB-BA0A-F74E228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成绩管理 · 一键 AI 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D3A44-3E48-47DC-A3E1-A83C8EF0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3D8BE-2E72-4017-9E82-35754864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📁 课件导入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6F177-8CA6-42BD-A212-30F1E237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PPT/PDF 抽取 · AI 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D6C14-30C2-4B65-BB2A-A2D76CF0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5B76A-73FB-4795-B260-CF59FA0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🎨 AI 美化课件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81364-74A8-4690-A0C2-104E09A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12~16 页品牌化课件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12883-86BE-487D-9100-371096E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4AE78-9E51-41A3-9C0E-8C33B8C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👥 教研广场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0BF9B-FFE9-4D0A-82DF-312AFEF0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教案分享 · 跨校同课异构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D0403-AF9A-4781-A9D2-54B9995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D8D95-A400-4D1D-B857-6EF174B0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776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88467-41B8-435F-A877-32475442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80B7F-63A0-430F-B9E8-23D8FAEC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五大创新点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4D640-B813-4934-8AE7-43A16BB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1B995-3908-4343-BD20-3910012D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新课标对齐引擎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CB5A3-78F8-47AC-A588-CC681EF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43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核心素养目标逐条映射 2022 版课标，输出课标依据卡片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97F3-4A1E-4561-9E7E-16EE818B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794AE-BBD1-417F-BBD8-2EA122FA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教材版本自适应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4AD46-9D77-4F32-A41F-DF4BF481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小学/初中全学段语数英 50 册教材目录结构化，精准定位课题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FC825-9631-48E6-849B-95819357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1836C-8444-437D-9AD3-F93A4C2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乡村场景引擎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23591-8685-4208-A2A5-5032A8D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弱网模式、低配手机、语音输入、河南/新乡乡土案例自动融入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268B3-9A41-4F98-BEB7-9BE9E10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0CC56-D86F-4F8E-9341-221E1DA2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教师共创数据飞轮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847B3-36B3-4D90-A430-2CB2AD4B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教案沉淀校本知识库 → 跨校共享 → 数据反哺，用得越多越好用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D9B70-238C-41DE-88DB-105B4CC0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D1984-24E6-4030-9509-8577649F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成效度量体系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CBE2B-08EE-46A9-B487-413DA3E4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备课时长、质量分、满意度全链路量化，用真实数据证明价值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1C6D3-4F9F-4ADB-9C4C-0E16365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877A6-49C4-4FDD-8E6E-EFFD9F2C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52213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A182C-8259-4530-A5CE-44D6892D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6C2BB-96E3-4B2C-B598-759828D8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588B7-1F9D-4A60-9031-5EB6E0D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23482-38C5-4BE2-83DE-DA12674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教师端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0DE86-DBB7-42A7-BFD4-64D614D6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uni-app · H5 + 微信小程序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497C1-4535-4F8E-93DB-DA06C36F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8B3C4-4B18-4029-A406-B6BF19F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管理端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51EB1-2FDE-4D22-B644-46ECD69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Vue3 · 数据看板/用户/教案/反馈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01D18-C094-4CA7-827F-2A9DC5EC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D01E4-F65A-4122-88DB-B11F10A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E5630-ED48-4740-9123-ECBD384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Spring Boot 3 · 鉴权 · 生成管线 · 埋点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2717D-0567-4A03-B267-7EF602C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DF59C-5C5E-4EC7-A42D-A585F96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AI 与知识库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2F2D6-DFA9-49A9-9578-54A99D76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多模型路由 · 课标/教材/课件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28399-7014-4719-8252-7A1E671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C2C2C"/>
                </a:solidFill>
              </a:defRPr>
            </a:pPr>
            <a:r>
              <a:rPr sz="1425" b="0">
                <a:solidFill>
                  <a:srgbClr val="2C2C2C"/>
                </a:solidFill>
              </a:rPr>
              <a:t>数据层：PostgreSQL + pgvector · Redis · MinIO</a:t>
            </a:r>
          </a:p>
          <a:p xmlns:a="http://schemas.openxmlformats.org/drawingml/2006/main">
            <a:pPr>
              <a:defRPr sz="1425" b="0">
                <a:solidFill>
                  <a:srgbClr val="2C2C2C"/>
                </a:solidFill>
              </a:defRPr>
            </a:pPr>
            <a:r>
              <a:rPr sz="1425" b="0">
                <a:solidFill>
                  <a:srgbClr val="2C2C2C"/>
                </a:solidFill>
              </a:rPr>
              <a:t>部署：Docker Compose 一键编排 · 一台轻量服务器即可支撑试点学校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9EE22-E05A-4C13-B475-FE0A8C64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F14F2-0DD1-464F-B4A3-EE7FF93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4769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5BC46-EF2F-4B03-96DF-EB8FA79D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AC77A-9539-40AA-8648-06B131FA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试点与真实数据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309E4-669E-4C8D-8B05-744DA04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238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7089F-FF14-4EF0-9773-A4300417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当前进展（2026-08）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DC97D-F24D-4107-B036-87C99A5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• 多份真实生成教案，质量分 92~96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E8F87-8DEA-467D-B2AD-B7F8863C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• 50 册教材目录 + 课标/模板/乡土案例知识库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CBA09-9A07-4FD2-B56D-8C45EAC5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• 班级学情：成绩录入与 AI 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59A9B-C911-40E2-BF73-106058F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• 课件导入 → AI 美化课件全链路可用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655E-B0FC-47BB-B7C8-F28E7DA3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• 前后端可运行，埋点与后台完整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60FCE-F078-49B4-820F-5401365A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5238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CB534-29F9-4785-B1D8-668A2CB9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试点计划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3EB27-854C-420A-96F6-CEEE30F9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试点 1（2026-12）</a:t>
            </a:r>
          </a:p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新乡周边乡村小学，30+ 教师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0AAE-7B89-406E-81B4-EE76E327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试点 2（2027-02）</a:t>
            </a:r>
          </a:p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第二所学校（跨县），验证可复制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87786-327B-4D26-87B3-372D40C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试点 3（2027-05）</a:t>
            </a:r>
          </a:p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对接教育局，区域推广验证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B35F8-D333-4BA4-9ED1-876111E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43DF3-831A-4FAA-AC1B-E6080C68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1082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98299-7E08-4CDD-8FCC-F89CE90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3CC39-33C4-4E47-AC21-EDC06DBA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商业模式：公益 + 可持续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79966-75E4-405A-8981-EF37E6A7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6E6C1-444E-4999-9E1C-23EC84D5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基础版 · 公益免费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C5FE9-DC2B-49C2-9F6F-57FAD204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乡村教师无限量基础备课，0 成本接入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C634-3F90-4FA5-B0F7-56F5ACF4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B184C-709A-4F4F-9118-A3AF4194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学校版 · 增值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009C-FE7C-43FD-A116-CD4EF3BA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校本知识库、学情分析、教研报告，按校年费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53C7F-55D0-4D27-833B-A8F0267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0F42E-2AB9-49F1-A0F7-CB887A6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区域版 · 政府采购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7D0E1-7545-4D8E-BE47-D5337D8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区域教研平台与质量监测，项目制采购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4BA4E-3F44-4894-A0DC-18D85449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642D4-D194-487C-B632-C4ECFFBB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公益合作 · CSR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DE17C-033B-4A61-B354-D06A262C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基金会与企业赞助，降低乡村学校负担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A52A6-F70D-4F72-A8B0-67AEA490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4A6CB-85F3-49FB-807A-B83C771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4C38"/>
                </a:solidFill>
              </a:defRPr>
            </a:pPr>
            <a:r>
              <a:rPr sz="1650" b="1">
                <a:solidFill>
                  <a:srgbClr val="244C38"/>
                </a:solidFill>
              </a:rPr>
              <a:t>愿景：让乡村教师用得起、学校接得住、区域推得开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75C16-98BE-483A-BC34-0FE2E58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9E702-3229-455F-965E-C5A6EB6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39022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A0CF4-464A-4824-95CA-B93933D8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2EFF6-79FE-4562-963E-EC7D1D6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社会价值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4999-BCDC-472B-83B1-4BD31F78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2882C-3ACC-4EAC-8D77-1D373656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教育公平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0EEB5-AA68-4310-8C47-18202795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让乡村教师用得起、用得好的 AI 备课工具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3AA0B-796E-4B94-8E2F-763A9A5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C614-1AD5-4A3E-A870-B850AC85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教师减负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D2465-F00A-4C09-98FF-920B3D17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把时间从重复备课还给课堂与学生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AE9A9-98BD-43B4-9DF5-06370049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59FBA-0ED8-4E48-87AB-323374CF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新课标落地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99D78-B9C6-4405-87DC-004E3BD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课标对齐机制推动素养导向教学进乡村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ED62A-E2EB-446C-A124-3E4D5396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771A1-E6EF-4B58-8281-50E9054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可复制推广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AAA9D-2229-4503-8F7A-F8219A0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产品化 + 标准化试点，可向中西部规模化复制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7C7EB-FFC5-4570-AA8F-7FC40C0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E1B88-693B-4D1D-B70C-6F6D657B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8999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60478-BEBE-4FC7-9B55-B81C86F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56DF3-997C-4CCA-976D-FD9DB6B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E6B4F"/>
                </a:solidFill>
              </a:defRPr>
            </a:pPr>
            <a:r>
              <a:rPr sz="4500" b="1">
                <a:solidFill>
                  <a:srgbClr val="2E6B4F"/>
                </a:solidFill>
              </a:rPr>
              <a:t>让备课时间从 2 小时到 20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0F05-8FD5-4F82-9565-8E76356F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C2C2C"/>
                </a:solidFill>
              </a:defRPr>
            </a:pPr>
            <a:r>
              <a:rPr sz="2100" b="0">
                <a:solidFill>
                  <a:srgbClr val="2C2C2C"/>
                </a:solidFill>
              </a:rPr>
              <a:t>让每一节乡村课都备得起、备得好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7A29F-13AD-49F4-A9BF-4BCCE76E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A8A8A"/>
                </a:solidFill>
              </a:defRPr>
            </a:pPr>
            <a:r>
              <a:rPr sz="1500" b="0">
                <a:solidFill>
                  <a:srgbClr val="8A8A8A"/>
                </a:solidFill>
              </a:rPr>
              <a:t>杏坛智备 · 青年红色筑梦之旅 · 2027 · 敬请指正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8DE97-B6C7-410C-8839-9568CCEF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DFE6A-965F-457E-B3FB-D8BC61A8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9639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2026-08-07T12:00:13.6590000Z</dcterms:created>
  <dcterms:modified xsi:type="dcterms:W3CDTF">2026-08-07T12:00:13.6590000Z</dcterms:modified>
</coreProperties>
</file>
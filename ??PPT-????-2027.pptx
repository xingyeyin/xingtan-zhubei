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ccbb28842e74205" /><Relationship Type="http://schemas.openxmlformats.org/officeDocument/2006/relationships/extended-properties" Target="/docProps/app.xml" Id="R1df31ff240f94f2d" /><Relationship Type="http://schemas.openxmlformats.org/officeDocument/2006/relationships/officeDocument" Target="/ppt/presentation.xml" Id="Rc770ba404c31486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e4d3d7a15a84ce9"/>
  </p:sldMasterIdLst>
  <p:notesMasterIdLst>
    <p:notesMasterId xmlns:r="http://schemas.openxmlformats.org/officeDocument/2006/relationships" r:id="R0c505f5de7e9480e"/>
  </p:notesMasterIdLst>
  <p:sldIdLst>
    <p:sldId xmlns:r="http://schemas.openxmlformats.org/officeDocument/2006/relationships" id="256" r:id="Rb6657b4b673548c7"/>
    <p:sldId xmlns:r="http://schemas.openxmlformats.org/officeDocument/2006/relationships" id="257" r:id="Rd73697c321ba4790"/>
    <p:sldId xmlns:r="http://schemas.openxmlformats.org/officeDocument/2006/relationships" id="258" r:id="R09d88f2c6a554ad8"/>
    <p:sldId xmlns:r="http://schemas.openxmlformats.org/officeDocument/2006/relationships" id="259" r:id="Raac9d220f8084cbd"/>
    <p:sldId xmlns:r="http://schemas.openxmlformats.org/officeDocument/2006/relationships" id="260" r:id="Rcb96102511924695"/>
    <p:sldId xmlns:r="http://schemas.openxmlformats.org/officeDocument/2006/relationships" id="261" r:id="Rd886961def7f4277"/>
    <p:sldId xmlns:r="http://schemas.openxmlformats.org/officeDocument/2006/relationships" id="262" r:id="Rcef7f9e93452481c"/>
    <p:sldId xmlns:r="http://schemas.openxmlformats.org/officeDocument/2006/relationships" id="263" r:id="Rc2e4c2ea81b641dd"/>
    <p:sldId xmlns:r="http://schemas.openxmlformats.org/officeDocument/2006/relationships" id="264" r:id="Rea59dd47ec624dcc"/>
    <p:sldId xmlns:r="http://schemas.openxmlformats.org/officeDocument/2006/relationships" id="265" r:id="R416b07b78229496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6cf5e11a88c4945" /><Relationship Type="http://schemas.openxmlformats.org/officeDocument/2006/relationships/slideMaster" Target="/ppt/slideMasters/slideMaster1.xml" Id="R3e4d3d7a15a84ce9" /><Relationship Type="http://schemas.openxmlformats.org/officeDocument/2006/relationships/notesMaster" Target="/ppt/notesMasters/notesMaster1.xml" Id="R0c505f5de7e9480e" /><Relationship Type="http://schemas.openxmlformats.org/officeDocument/2006/relationships/presProps" Target="/ppt/presProps.xml" Id="R6900bb7cb52d4b62" /><Relationship Type="http://schemas.openxmlformats.org/officeDocument/2006/relationships/tableStyles" Target="/ppt/tableStyles.xml" Id="R1f928878f5304b08" /><Relationship Type="http://schemas.openxmlformats.org/officeDocument/2006/relationships/slide" Target="/ppt/slides/slide1.xml" Id="Rb6657b4b673548c7" /><Relationship Type="http://schemas.openxmlformats.org/officeDocument/2006/relationships/slide" Target="/ppt/slides/slide2.xml" Id="Rd73697c321ba4790" /><Relationship Type="http://schemas.openxmlformats.org/officeDocument/2006/relationships/slide" Target="/ppt/slides/slide3.xml" Id="R09d88f2c6a554ad8" /><Relationship Type="http://schemas.openxmlformats.org/officeDocument/2006/relationships/slide" Target="/ppt/slides/slide4.xml" Id="Raac9d220f8084cbd" /><Relationship Type="http://schemas.openxmlformats.org/officeDocument/2006/relationships/slide" Target="/ppt/slides/slide5.xml" Id="Rcb96102511924695" /><Relationship Type="http://schemas.openxmlformats.org/officeDocument/2006/relationships/slide" Target="/ppt/slides/slide6.xml" Id="Rd886961def7f4277" /><Relationship Type="http://schemas.openxmlformats.org/officeDocument/2006/relationships/slide" Target="/ppt/slides/slide7.xml" Id="Rcef7f9e93452481c" /><Relationship Type="http://schemas.openxmlformats.org/officeDocument/2006/relationships/slide" Target="/ppt/slides/slide8.xml" Id="Rc2e4c2ea81b641dd" /><Relationship Type="http://schemas.openxmlformats.org/officeDocument/2006/relationships/slide" Target="/ppt/slides/slide9.xml" Id="Rea59dd47ec624dcc" /><Relationship Type="http://schemas.openxmlformats.org/officeDocument/2006/relationships/slide" Target="/ppt/slides/slide10.xml" Id="R416b07b78229496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33821284376489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b080ba346494a06" /><Relationship Type="http://schemas.openxmlformats.org/officeDocument/2006/relationships/notesMaster" Target="/ppt/notesMasters/notesMaster1.xml" Id="Rc5848b4298674ef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744683b4ccf475c" /><Relationship Type="http://schemas.openxmlformats.org/officeDocument/2006/relationships/notesMaster" Target="/ppt/notesMasters/notesMaster1.xml" Id="R1d363bca9fde48d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eedb3b9c79b4381" /><Relationship Type="http://schemas.openxmlformats.org/officeDocument/2006/relationships/notesMaster" Target="/ppt/notesMasters/notesMaster1.xml" Id="R5d9db58159da42f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bcca7ab58a54d21" /><Relationship Type="http://schemas.openxmlformats.org/officeDocument/2006/relationships/notesMaster" Target="/ppt/notesMasters/notesMaster1.xml" Id="R711ce108a6324df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c806b24a3994f3f" /><Relationship Type="http://schemas.openxmlformats.org/officeDocument/2006/relationships/notesMaster" Target="/ppt/notesMasters/notesMaster1.xml" Id="R61744143269f426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6969ba8e5764ba6" /><Relationship Type="http://schemas.openxmlformats.org/officeDocument/2006/relationships/notesMaster" Target="/ppt/notesMasters/notesMaster1.xml" Id="Re4ff02c81c134ba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037f7e4cb8543ee" /><Relationship Type="http://schemas.openxmlformats.org/officeDocument/2006/relationships/notesMaster" Target="/ppt/notesMasters/notesMaster1.xml" Id="Rf09c27a4ac8c403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b13894ca2ee425c" /><Relationship Type="http://schemas.openxmlformats.org/officeDocument/2006/relationships/notesMaster" Target="/ppt/notesMasters/notesMaster1.xml" Id="Rb101c6ae52da4f2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4007572c5e040d5" /><Relationship Type="http://schemas.openxmlformats.org/officeDocument/2006/relationships/notesMaster" Target="/ppt/notesMasters/notesMaster1.xml" Id="R5476e8036a35429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7ef6cb8c8424571" /><Relationship Type="http://schemas.openxmlformats.org/officeDocument/2006/relationships/notesMaster" Target="/ppt/notesMasters/notesMaster1.xml" Id="R1dfe95ff4b9b4b8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1663638f36f4ae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7281a9b48d240ce" /><Relationship Type="http://schemas.openxmlformats.org/officeDocument/2006/relationships/slideLayout" Target="/ppt/slideLayouts/slideLayout1.xml" Id="R8be91f42f71d452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be91f42f71d452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9ab6117a074a17" /><Relationship Type="http://schemas.openxmlformats.org/officeDocument/2006/relationships/notesSlide" Target="/ppt/notesSlides/notesSlide1.xml" Id="R6a83e8531f2b4e2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22fd4500c144fc" /><Relationship Type="http://schemas.openxmlformats.org/officeDocument/2006/relationships/notesSlide" Target="/ppt/notesSlides/notesSlide2.xml" Id="R4983b98ebce84eb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830d47bea94e19" /><Relationship Type="http://schemas.openxmlformats.org/officeDocument/2006/relationships/notesSlide" Target="/ppt/notesSlides/notesSlide3.xml" Id="R4830782f4b62415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e9f98d68b947e4" /><Relationship Type="http://schemas.openxmlformats.org/officeDocument/2006/relationships/image" Target="/ppt/media/image.png" Id="R0a5dc0f8d4a246dd" /><Relationship Type="http://schemas.openxmlformats.org/officeDocument/2006/relationships/notesSlide" Target="/ppt/notesSlides/notesSlide4.xml" Id="R2259ccb5187242a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75cb38162c48e8" /><Relationship Type="http://schemas.openxmlformats.org/officeDocument/2006/relationships/notesSlide" Target="/ppt/notesSlides/notesSlide5.xml" Id="Rd3d0c1ed8eb74ed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7ac92c80c04092" /><Relationship Type="http://schemas.openxmlformats.org/officeDocument/2006/relationships/notesSlide" Target="/ppt/notesSlides/notesSlide6.xml" Id="R364fc5c1c9f7483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e9ec1b032c4ae1" /><Relationship Type="http://schemas.openxmlformats.org/officeDocument/2006/relationships/notesSlide" Target="/ppt/notesSlides/notesSlide7.xml" Id="R6e083d67b2cb401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0853f0e63c4fc9" /><Relationship Type="http://schemas.openxmlformats.org/officeDocument/2006/relationships/notesSlide" Target="/ppt/notesSlides/notesSlide8.xml" Id="R0d01258c3153462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bdb432cea84398" /><Relationship Type="http://schemas.openxmlformats.org/officeDocument/2006/relationships/notesSlide" Target="/ppt/notesSlides/notesSlide9.xml" Id="R4e59990cd2ef493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626f7dc1524c8c" /><Relationship Type="http://schemas.openxmlformats.org/officeDocument/2006/relationships/notesSlide" Target="/ppt/notesSlides/notesSlide10.xml" Id="Refa4a5556a31410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4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B5B154-0A9B-4487-AD23-004A15BBE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6B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277D21-2196-4115-BE8D-666928050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619250"/>
            <a:ext cx="10096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200" b="1">
                <a:solidFill>
                  <a:srgbClr val="2E6B4F"/>
                </a:solidFill>
              </a:defRPr>
            </a:pPr>
            <a:r>
              <a:rPr sz="7200" b="1">
                <a:solidFill>
                  <a:srgbClr val="2E6B4F"/>
                </a:solidFill>
              </a:rPr>
              <a:t>杏坛智备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1EF54A-7DA4-43B4-A7FE-A1C9E2862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52750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2C2C2C"/>
                </a:solidFill>
              </a:defRPr>
            </a:pPr>
            <a:r>
              <a:rPr sz="3000" b="1">
                <a:solidFill>
                  <a:srgbClr val="2C2C2C"/>
                </a:solidFill>
              </a:rPr>
              <a:t>乡村教师 AI 备课助手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4254C6-7C53-4AA4-BDE5-6F4D33808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14750"/>
            <a:ext cx="952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8A8A8A"/>
                </a:solidFill>
              </a:defRPr>
            </a:pPr>
            <a:r>
              <a:rPr sz="1950" b="0">
                <a:solidFill>
                  <a:srgbClr val="8A8A8A"/>
                </a:solidFill>
              </a:rPr>
              <a:t>让每一节乡村课都备得起、备得好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6F0715-041C-4565-BD90-01652BC23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572000"/>
            <a:ext cx="53340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3A0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35871E-D6AB-4150-A1A4-2942D4BB0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953000"/>
            <a:ext cx="857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44C38"/>
                </a:solidFill>
              </a:defRPr>
            </a:pPr>
            <a:r>
              <a:rPr sz="1500" b="1">
                <a:solidFill>
                  <a:srgbClr val="244C38"/>
                </a:solidFill>
              </a:rPr>
              <a:t>中国国际大学生创新大赛（2027）· 青年红色筑梦之旅 · 创意组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019257-165D-421B-B42E-A57E4BF31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0080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8A8A8A"/>
                </a:solidFill>
              </a:defRPr>
            </a:pPr>
            <a:r>
              <a:rPr sz="900" b="0">
                <a:solidFill>
                  <a:srgbClr val="8A8A8A"/>
                </a:solidFill>
              </a:rPr>
              <a:t>杏坛智备 · 乡村教师 AI 备课助手 · 2027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4AC092-A9D2-4D94-91A9-ACEAFE13A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8A8A8A"/>
                </a:solidFill>
              </a:defRPr>
            </a:pPr>
            <a:r>
              <a:rPr sz="900" b="0">
                <a:solidFill>
                  <a:srgbClr val="8A8A8A"/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3352142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4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CDE8BC-9C1D-459F-894A-BDF57016A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6B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657247-C696-4CCE-A468-E8AFE2AB5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C2C2C"/>
                </a:solidFill>
              </a:defRPr>
            </a:pPr>
            <a:r>
              <a:rPr sz="3150" b="1">
                <a:solidFill>
                  <a:srgbClr val="2C2C2C"/>
                </a:solidFill>
              </a:rPr>
              <a:t>乡村教师的三重困境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8D801B-8D89-46C8-9AF6-5EB0A3F45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33375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00C182-7F00-4390-A238-9F09C59B8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00250"/>
            <a:ext cx="28003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E6B4F"/>
                </a:solidFill>
              </a:defRPr>
            </a:pPr>
            <a:r>
              <a:rPr sz="3300" b="1">
                <a:solidFill>
                  <a:srgbClr val="2E6B4F"/>
                </a:solidFill>
              </a:rPr>
              <a:t>1069.76万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90A4FC-EADE-4E9A-BA02-C561AC014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62250"/>
            <a:ext cx="28003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8A8A8A"/>
                </a:solidFill>
              </a:defRPr>
            </a:pPr>
            <a:r>
              <a:rPr sz="1200" b="0">
                <a:solidFill>
                  <a:srgbClr val="8A8A8A"/>
                </a:solidFill>
              </a:rPr>
              <a:t>全国义务教育专任教师（2025年统计公报）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1F40A2-F364-4715-A70D-A39934D01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619250"/>
            <a:ext cx="333375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38A717-7D83-4C2D-9505-A68520B93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000250"/>
            <a:ext cx="28003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E6B4F"/>
                </a:solidFill>
              </a:defRPr>
            </a:pPr>
            <a:r>
              <a:rPr sz="3300" b="1">
                <a:solidFill>
                  <a:srgbClr val="2E6B4F"/>
                </a:solidFill>
              </a:rPr>
              <a:t>18.00万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79C123-118C-4DBA-A42F-3E9AD065C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762250"/>
            <a:ext cx="28003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8A8A8A"/>
                </a:solidFill>
              </a:defRPr>
            </a:pPr>
            <a:r>
              <a:rPr sz="1200" b="0">
                <a:solidFill>
                  <a:srgbClr val="8A8A8A"/>
                </a:solidFill>
              </a:rPr>
              <a:t>义务教育阶段学校，乡村校点多且分散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33D14D-FD53-49A2-91CD-799CF5D8D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19250"/>
            <a:ext cx="333375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01B7E4-C533-4D1B-97AF-E5922708E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000250"/>
            <a:ext cx="28003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E6B4F"/>
                </a:solidFill>
              </a:defRPr>
            </a:pPr>
            <a:r>
              <a:rPr sz="3300" b="1">
                <a:solidFill>
                  <a:srgbClr val="2E6B4F"/>
                </a:solidFill>
              </a:rPr>
              <a:t>2~3小时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910E32-9614-433E-AE97-0424E4964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762250"/>
            <a:ext cx="28003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8A8A8A"/>
                </a:solidFill>
              </a:defRPr>
            </a:pPr>
            <a:r>
              <a:rPr sz="1200" b="0">
                <a:solidFill>
                  <a:srgbClr val="8A8A8A"/>
                </a:solidFill>
              </a:rPr>
              <a:t>多学科教师单课备课耗时，是首要压力来源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B25647-1E27-4F4F-93D2-4A238480F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0"/>
            <a:ext cx="10858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2C2C2C"/>
                </a:solidFill>
              </a:defRPr>
            </a:pPr>
            <a:r>
              <a:rPr sz="1500" b="0">
                <a:solidFill>
                  <a:srgbClr val="2C2C2C"/>
                </a:solidFill>
              </a:rPr>
              <a:t>痛点：备课负担重（一人多科、跨年级代课）· 资源获取难（优质教案与乡村学情不匹配）· 新课标落地难（核心素养导向设计缺乏教研支持）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EC9789-79E5-49C1-85F9-39CA5EDBC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0080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8A8A8A"/>
                </a:solidFill>
              </a:defRPr>
            </a:pPr>
            <a:r>
              <a:rPr sz="900" b="0">
                <a:solidFill>
                  <a:srgbClr val="8A8A8A"/>
                </a:solidFill>
              </a:rPr>
              <a:t>杏坛智备 · 乡村教师 AI 备课助手 · 2027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FD490E-08B1-48C8-9CE8-50C909078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8A8A8A"/>
                </a:solidFill>
              </a:defRPr>
            </a:pPr>
            <a:r>
              <a:rPr sz="900" b="0">
                <a:solidFill>
                  <a:srgbClr val="8A8A8A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07811490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4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F00619F-889F-4D71-8249-DB8E0B0E6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6B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03B083-E3E8-4DC4-813A-64531FACE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952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C2C2C"/>
                </a:solidFill>
              </a:defRPr>
            </a:pPr>
            <a:r>
              <a:rPr sz="3150" b="1">
                <a:solidFill>
                  <a:srgbClr val="2C2C2C"/>
                </a:solidFill>
              </a:rPr>
              <a:t>解决方案：AI 备课工作台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CF9D6B-B72B-4693-A54F-B0016541B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19200"/>
            <a:ext cx="1047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8A8A8A"/>
                </a:solidFill>
              </a:defRPr>
            </a:pPr>
            <a:r>
              <a:rPr sz="1500" b="0">
                <a:solidFill>
                  <a:srgbClr val="8A8A8A"/>
                </a:solidFill>
              </a:rPr>
              <a:t>输入课题 → 系统自动对齐课标、召回教材与乡土案例 → 30 秒生成完整教案，附课标依据卡片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4ED823-332F-4273-BE73-7C7462ACF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247650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43F1BB-1F7B-4A20-ACAF-074A16568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76500"/>
            <a:ext cx="2019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E6B4F"/>
                </a:solidFill>
              </a:defRPr>
            </a:pPr>
            <a:r>
              <a:rPr sz="1800" b="1">
                <a:solidFill>
                  <a:srgbClr val="2E6B4F"/>
                </a:solidFill>
              </a:rPr>
              <a:t>1 输入课题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591658-A7AB-4143-B7F8-0F6A8F7A4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09900"/>
            <a:ext cx="20193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8A8A8A"/>
                </a:solidFill>
              </a:defRPr>
            </a:pPr>
            <a:r>
              <a:rPr sz="1200" b="0">
                <a:solidFill>
                  <a:srgbClr val="8A8A8A"/>
                </a:solidFill>
              </a:rPr>
              <a:t>学科·年级·教材版本·课型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FF64A8-2167-4167-9710-20A943BC4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857500"/>
            <a:ext cx="342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E3A03C"/>
                </a:solidFill>
              </a:defRPr>
            </a:pPr>
            <a:r>
              <a:rPr sz="2100" b="1">
                <a:solidFill>
                  <a:srgbClr val="E3A03C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9E3CE0-6BC0-4EC1-96B3-289F18F01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095500"/>
            <a:ext cx="247650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B59C07-0B51-4031-86B3-34CE1102A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476500"/>
            <a:ext cx="2019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E6B4F"/>
                </a:solidFill>
              </a:defRPr>
            </a:pPr>
            <a:r>
              <a:rPr sz="1800" b="1">
                <a:solidFill>
                  <a:srgbClr val="2E6B4F"/>
                </a:solidFill>
              </a:rPr>
              <a:t>2 知识召回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C5A4CC-49D6-4E0D-84C6-5C0AEFA8C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009900"/>
            <a:ext cx="20193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8A8A8A"/>
                </a:solidFill>
              </a:defRPr>
            </a:pPr>
            <a:r>
              <a:rPr sz="1200" b="0">
                <a:solidFill>
                  <a:srgbClr val="8A8A8A"/>
                </a:solidFill>
              </a:rPr>
              <a:t>课标条目/教材目录/乡土案例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3E3571-6A50-4B14-9B94-12A092232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857500"/>
            <a:ext cx="342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E3A03C"/>
                </a:solidFill>
              </a:defRPr>
            </a:pPr>
            <a:r>
              <a:rPr sz="2100" b="1">
                <a:solidFill>
                  <a:srgbClr val="E3A03C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E6468A-5F6F-4244-A205-47A41E4ED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095500"/>
            <a:ext cx="247650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881AD6-BA09-4A3A-A434-DA247CF5E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476500"/>
            <a:ext cx="2019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E6B4F"/>
                </a:solidFill>
              </a:defRPr>
            </a:pPr>
            <a:r>
              <a:rPr sz="1800" b="1">
                <a:solidFill>
                  <a:srgbClr val="2E6B4F"/>
                </a:solidFill>
              </a:rPr>
              <a:t>3 AI 生成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8D59C5-4936-4878-B04B-3AED3E121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009900"/>
            <a:ext cx="20193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8A8A8A"/>
                </a:solidFill>
              </a:defRPr>
            </a:pPr>
            <a:r>
              <a:rPr sz="1200" b="0">
                <a:solidFill>
                  <a:srgbClr val="8A8A8A"/>
                </a:solidFill>
              </a:rPr>
              <a:t>教学目标·过程·板书·分层作业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7DE5FA-2B74-4957-BDFB-C84237031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857500"/>
            <a:ext cx="342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E3A03C"/>
                </a:solidFill>
              </a:defRPr>
            </a:pPr>
            <a:r>
              <a:rPr sz="2100" b="1">
                <a:solidFill>
                  <a:srgbClr val="E3A03C"/>
                </a:solidFill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67D752A-9D44-4A7E-AF6B-C1754947A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095500"/>
            <a:ext cx="247650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388679-67F0-49B8-8F00-C85CFDCF5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476500"/>
            <a:ext cx="2019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E6B4F"/>
                </a:solidFill>
              </a:defRPr>
            </a:pPr>
            <a:r>
              <a:rPr sz="1800" b="1">
                <a:solidFill>
                  <a:srgbClr val="2E6B4F"/>
                </a:solidFill>
              </a:rPr>
              <a:t>4 编辑导出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241FBCA-CF8D-4F95-8AFA-E04C227C3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009900"/>
            <a:ext cx="20193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8A8A8A"/>
                </a:solidFill>
              </a:defRPr>
            </a:pPr>
            <a:r>
              <a:rPr sz="1200" b="0">
                <a:solidFill>
                  <a:srgbClr val="8A8A8A"/>
                </a:solidFill>
              </a:rPr>
              <a:t>AI 追问修改·Word/Markdown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91D55FC-745C-41FC-8927-9E48E1088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0"/>
            <a:ext cx="108585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9F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1AEBE31-1D50-4583-BEB7-C2D2DA3E7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72050"/>
            <a:ext cx="1028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44C38"/>
                </a:solidFill>
              </a:defRPr>
            </a:pPr>
            <a:r>
              <a:rPr sz="1425" b="1">
                <a:solidFill>
                  <a:srgbClr val="244C38"/>
                </a:solidFill>
              </a:rPr>
              <a:t>差异化：新课标对齐引擎 · 教材版本自适应 · 乡村场景引擎（弱网/语音/乡土素材）· 教师共建数据飞轮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5C1E520-6416-433F-858C-B211BAF4A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0080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8A8A8A"/>
                </a:solidFill>
              </a:defRPr>
            </a:pPr>
            <a:r>
              <a:rPr sz="900" b="0">
                <a:solidFill>
                  <a:srgbClr val="8A8A8A"/>
                </a:solidFill>
              </a:rPr>
              <a:t>杏坛智备 · 乡村教师 AI 备课助手 · 2027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66FA234-EF85-4585-9611-F76FE356D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8A8A8A"/>
                </a:solidFill>
              </a:defRPr>
            </a:pPr>
            <a:r>
              <a:rPr sz="900" b="0">
                <a:solidFill>
                  <a:srgbClr val="8A8A8A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47222982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4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92B843-6E64-47D9-B0F7-D84BA0602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6B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5C2017-D2E8-4E17-A36B-3600DF62F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C2C2C"/>
                </a:solidFill>
              </a:defRPr>
            </a:pPr>
            <a:r>
              <a:rPr sz="3150" b="1">
                <a:solidFill>
                  <a:srgbClr val="2C2C2C"/>
                </a:solidFill>
              </a:rPr>
              <a:t>现场演示：3 分钟从课题到教案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FFB19E-2D22-4748-9DE7-CC69A4EB0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5334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C2C2C"/>
                </a:solidFill>
              </a:defRPr>
            </a:pPr>
            <a:r>
              <a:rPr sz="1650" b="0">
                <a:solidFill>
                  <a:srgbClr val="2C2C2C"/>
                </a:solidFill>
              </a:rPr>
              <a:t>✓  语音输入课题《背影》第一课时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516807-0F69-4421-8FEF-26E1DCF98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66950"/>
            <a:ext cx="5334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C2C2C"/>
                </a:solidFill>
              </a:defRPr>
            </a:pPr>
            <a:r>
              <a:rPr sz="1650" b="0">
                <a:solidFill>
                  <a:srgbClr val="2C2C2C"/>
                </a:solidFill>
              </a:rPr>
              <a:t>✓  流式生成完整教案（约 30 秒）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6EC24A-4B2A-46C1-935D-AE08AE54F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09900"/>
            <a:ext cx="5334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C2C2C"/>
                </a:solidFill>
              </a:defRPr>
            </a:pPr>
            <a:r>
              <a:rPr sz="1650" b="0">
                <a:solidFill>
                  <a:srgbClr val="2C2C2C"/>
                </a:solidFill>
              </a:rPr>
              <a:t>✓  展开「课标依据卡片」核对依据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F15836-1268-44FE-A617-0C0FD5C0C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52850"/>
            <a:ext cx="5334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C2C2C"/>
                </a:solidFill>
              </a:defRPr>
            </a:pPr>
            <a:r>
              <a:rPr sz="1650" b="0">
                <a:solidFill>
                  <a:srgbClr val="2C2C2C"/>
                </a:solidFill>
              </a:rPr>
              <a:t>✓  AI 对话：换成乡土案例导入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D19B40-7CC7-46D8-B475-B68B40021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95800"/>
            <a:ext cx="5334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C2C2C"/>
                </a:solidFill>
              </a:defRPr>
            </a:pPr>
            <a:r>
              <a:rPr sz="1650" b="0">
                <a:solidFill>
                  <a:srgbClr val="2C2C2C"/>
                </a:solidFill>
              </a:rPr>
              <a:t>✓  一键导出 Word / Markdown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5dc0f8d4a246dd"/>
          <a:srcRect xmlns:a="http://schemas.openxmlformats.org/drawingml/2006/main" l="0" t="29117" r="0" b="2911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77000" y="1428750"/>
            <a:ext cx="4953000" cy="4476750"/>
          </a:xfrm>
          <a:prstGeom xmlns:a="http://schemas.openxmlformats.org/drawingml/2006/main" prst="roundRect">
            <a:avLst>
              <a:gd name="adj" fmla="val 3404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9BC7C9-6345-4154-B949-9BED41167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0080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8A8A8A"/>
                </a:solidFill>
              </a:defRPr>
            </a:pPr>
            <a:r>
              <a:rPr sz="900" b="0">
                <a:solidFill>
                  <a:srgbClr val="8A8A8A"/>
                </a:solidFill>
              </a:rPr>
              <a:t>杏坛智备 · 乡村教师 AI 备课助手 · 2027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FE45FE-D9E6-443F-BCFA-1A67FC75C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8A8A8A"/>
                </a:solidFill>
              </a:defRPr>
            </a:pPr>
            <a:r>
              <a:rPr sz="900" b="0">
                <a:solidFill>
                  <a:srgbClr val="8A8A8A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2777597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4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99B6FD1-3E01-44C1-A950-A981D48BA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6B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8423BC-3547-4202-82F2-3C7FA65FD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C2C2C"/>
                </a:solidFill>
              </a:defRPr>
            </a:pPr>
            <a:r>
              <a:rPr sz="3150" b="1">
                <a:solidFill>
                  <a:srgbClr val="2C2C2C"/>
                </a:solidFill>
              </a:rPr>
              <a:t>五大创新点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619423-C526-431B-BACD-4887312AC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33500"/>
            <a:ext cx="108585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B27500-D891-4E4D-8AC1-BF193CD56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52400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E6B4F"/>
                </a:solidFill>
              </a:defRPr>
            </a:pPr>
            <a:r>
              <a:rPr sz="1650" b="1">
                <a:solidFill>
                  <a:srgbClr val="2E6B4F"/>
                </a:solidFill>
              </a:rPr>
              <a:t>新课标对齐引擎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C7941D-93A8-42BB-A7A7-A8DD709AE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543050"/>
            <a:ext cx="723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2C2C2C"/>
                </a:solidFill>
              </a:defRPr>
            </a:pPr>
            <a:r>
              <a:rPr sz="1275" b="0">
                <a:solidFill>
                  <a:srgbClr val="2C2C2C"/>
                </a:solidFill>
              </a:rPr>
              <a:t>核心素养目标逐条映射 2022 版课标，输出课标依据卡片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327DEE-D2D2-4A78-9261-7E3B6A992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47900"/>
            <a:ext cx="108585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67BD4B-D867-471F-B0D9-EDE1F692A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3840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E6B4F"/>
                </a:solidFill>
              </a:defRPr>
            </a:pPr>
            <a:r>
              <a:rPr sz="1650" b="1">
                <a:solidFill>
                  <a:srgbClr val="2E6B4F"/>
                </a:solidFill>
              </a:rPr>
              <a:t>教材版本自适应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5766A4-4551-4B8A-AC27-FEC3EE3BD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457450"/>
            <a:ext cx="723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2C2C2C"/>
                </a:solidFill>
              </a:defRPr>
            </a:pPr>
            <a:r>
              <a:rPr sz="1275" b="0">
                <a:solidFill>
                  <a:srgbClr val="2C2C2C"/>
                </a:solidFill>
              </a:rPr>
              <a:t>小学/初中全学段语数英 50 册教材目录结构化，精准定位课题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3B4C43-7EC8-425F-A820-C17145E7B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62300"/>
            <a:ext cx="108585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2EF635-179D-4445-86CA-B61D64044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5280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E6B4F"/>
                </a:solidFill>
              </a:defRPr>
            </a:pPr>
            <a:r>
              <a:rPr sz="1650" b="1">
                <a:solidFill>
                  <a:srgbClr val="2E6B4F"/>
                </a:solidFill>
              </a:rPr>
              <a:t>乡村场景引擎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25D093-539E-4402-82C5-60B293D33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371850"/>
            <a:ext cx="723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2C2C2C"/>
                </a:solidFill>
              </a:defRPr>
            </a:pPr>
            <a:r>
              <a:rPr sz="1275" b="0">
                <a:solidFill>
                  <a:srgbClr val="2C2C2C"/>
                </a:solidFill>
              </a:rPr>
              <a:t>弱网模式、低配手机、语音输入、河南/新乡乡土案例自动融入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FADEC8-5107-4B55-BF82-5E63DB666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76700"/>
            <a:ext cx="108585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B7F58D-67CD-447B-886D-15C4B6335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6720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E6B4F"/>
                </a:solidFill>
              </a:defRPr>
            </a:pPr>
            <a:r>
              <a:rPr sz="1650" b="1">
                <a:solidFill>
                  <a:srgbClr val="2E6B4F"/>
                </a:solidFill>
              </a:rPr>
              <a:t>教师共创数据飞轮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F4DF01-A65D-4458-A249-DE6401E98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286250"/>
            <a:ext cx="723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2C2C2C"/>
                </a:solidFill>
              </a:defRPr>
            </a:pPr>
            <a:r>
              <a:rPr sz="1275" b="0">
                <a:solidFill>
                  <a:srgbClr val="2C2C2C"/>
                </a:solidFill>
              </a:rPr>
              <a:t>教案沉淀校本知识库 → 跨校共享 → 数据反哺，用得越多越好用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1C2021-77E8-4312-9FD5-7DC4DE0CC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91100"/>
            <a:ext cx="108585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5E5064-4A2B-4572-9C61-D73D0DDF3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8160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E6B4F"/>
                </a:solidFill>
              </a:defRPr>
            </a:pPr>
            <a:r>
              <a:rPr sz="1650" b="1">
                <a:solidFill>
                  <a:srgbClr val="2E6B4F"/>
                </a:solidFill>
              </a:rPr>
              <a:t>成效度量体系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A0ECE7-475C-4F7A-9F02-BFB66A077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200650"/>
            <a:ext cx="723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2C2C2C"/>
                </a:solidFill>
              </a:defRPr>
            </a:pPr>
            <a:r>
              <a:rPr sz="1275" b="0">
                <a:solidFill>
                  <a:srgbClr val="2C2C2C"/>
                </a:solidFill>
              </a:rPr>
              <a:t>备课时长、质量分、满意度全链路量化，用真实数据证明价值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42807D-94E1-45EA-8E72-68B7DE8B5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0080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8A8A8A"/>
                </a:solidFill>
              </a:defRPr>
            </a:pPr>
            <a:r>
              <a:rPr sz="900" b="0">
                <a:solidFill>
                  <a:srgbClr val="8A8A8A"/>
                </a:solidFill>
              </a:rPr>
              <a:t>杏坛智备 · 乡村教师 AI 备课助手 · 2027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87186AB-A79A-4BFD-8CF8-8A07D9F05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8A8A8A"/>
                </a:solidFill>
              </a:defRPr>
            </a:pPr>
            <a:r>
              <a:rPr sz="900" b="0">
                <a:solidFill>
                  <a:srgbClr val="8A8A8A"/>
                </a:solidFill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41646175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4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460E971-22F2-4F2A-9123-1BA98CA68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6B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6DF26E-65B4-4689-B7D5-97BE79ABC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C2C2C"/>
                </a:solidFill>
              </a:defRPr>
            </a:pPr>
            <a:r>
              <a:rPr sz="3150" b="1">
                <a:solidFill>
                  <a:srgbClr val="2C2C2C"/>
                </a:solidFill>
              </a:rPr>
              <a:t>技术架构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4DFB93-B739-48D0-9E7B-D1374303B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1714500" cy="31432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E57965-CBBF-4B49-B131-FD6D44FE0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00250"/>
            <a:ext cx="1409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E6B4F"/>
                </a:solidFill>
              </a:defRPr>
            </a:pPr>
            <a:r>
              <a:rPr sz="1650" b="1">
                <a:solidFill>
                  <a:srgbClr val="2E6B4F"/>
                </a:solidFill>
              </a:rPr>
              <a:t>教师端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12877B-D5E8-4A59-B5DA-CCC4879E3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4097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8A8A8A"/>
                </a:solidFill>
              </a:defRPr>
            </a:pPr>
            <a:r>
              <a:rPr sz="1125" b="0">
                <a:solidFill>
                  <a:srgbClr val="8A8A8A"/>
                </a:solidFill>
              </a:rPr>
              <a:t>uni-app · H5 + 微信小程序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145457-43A6-4092-A9DD-A29E7B2C3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524000"/>
            <a:ext cx="1714500" cy="31432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A93AF2-C705-4FF4-A1E5-AEEE0A88F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000250"/>
            <a:ext cx="1409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E6B4F"/>
                </a:solidFill>
              </a:defRPr>
            </a:pPr>
            <a:r>
              <a:rPr sz="1650" b="1">
                <a:solidFill>
                  <a:srgbClr val="2E6B4F"/>
                </a:solidFill>
              </a:rPr>
              <a:t>管理端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EE021E-3F2B-453E-A17C-3E7A9A119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495550"/>
            <a:ext cx="14097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8A8A8A"/>
                </a:solidFill>
              </a:defRPr>
            </a:pPr>
            <a:r>
              <a:rPr sz="1125" b="0">
                <a:solidFill>
                  <a:srgbClr val="8A8A8A"/>
                </a:solidFill>
              </a:rPr>
              <a:t>Vue3 · 数据看板/知识库/审核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B6B845-3823-4A7B-96EE-5153DA50A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524000"/>
            <a:ext cx="1714500" cy="31432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D16824-21C8-44D5-B02A-683286771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000250"/>
            <a:ext cx="1409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E6B4F"/>
                </a:solidFill>
              </a:defRPr>
            </a:pPr>
            <a:r>
              <a:rPr sz="1650" b="1">
                <a:solidFill>
                  <a:srgbClr val="2E6B4F"/>
                </a:solidFill>
              </a:rPr>
              <a:t>后端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AA67AF-CAFB-49D2-B25C-BBBA20AC5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495550"/>
            <a:ext cx="14097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8A8A8A"/>
                </a:solidFill>
              </a:defRPr>
            </a:pPr>
            <a:r>
              <a:rPr sz="1125" b="0">
                <a:solidFill>
                  <a:srgbClr val="8A8A8A"/>
                </a:solidFill>
              </a:rPr>
              <a:t>Spring Boot 3 · 生成任务管线 · 埋点统计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517179-66B6-4748-B428-0B1B6ECED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524000"/>
            <a:ext cx="1714500" cy="31432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0E4D28-C8A6-4878-8054-EC32867A0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000250"/>
            <a:ext cx="1409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E6B4F"/>
                </a:solidFill>
              </a:defRPr>
            </a:pPr>
            <a:r>
              <a:rPr sz="1650" b="1">
                <a:solidFill>
                  <a:srgbClr val="2E6B4F"/>
                </a:solidFill>
              </a:rPr>
              <a:t>AI 与知识库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411935-FA4D-405D-B26A-76E53D71C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495550"/>
            <a:ext cx="14097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8A8A8A"/>
                </a:solidFill>
              </a:defRPr>
            </a:pPr>
            <a:r>
              <a:rPr sz="1125" b="0">
                <a:solidFill>
                  <a:srgbClr val="8A8A8A"/>
                </a:solidFill>
              </a:rPr>
              <a:t>大模型多供应商路由 · 课标/教材/案例 RAG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419A7C-7354-4C5A-8C20-FDDF9A33D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2C2C2C"/>
                </a:solidFill>
              </a:defRPr>
            </a:pPr>
            <a:r>
              <a:rPr sz="1425" b="0">
                <a:solidFill>
                  <a:srgbClr val="2C2C2C"/>
                </a:solidFill>
              </a:rPr>
              <a:t>数据层：PostgreSQL + pgvector · Redis · MinIO</a:t>
            </a:r>
          </a:p>
          <a:p xmlns:a="http://schemas.openxmlformats.org/drawingml/2006/main">
            <a:pPr>
              <a:defRPr sz="1425" b="0">
                <a:solidFill>
                  <a:srgbClr val="2C2C2C"/>
                </a:solidFill>
              </a:defRPr>
            </a:pPr>
            <a:r>
              <a:rPr sz="1425" b="0">
                <a:solidFill>
                  <a:srgbClr val="2C2C2C"/>
                </a:solidFill>
              </a:rPr>
              <a:t>部署：Docker Compose 一键编排 · 一台轻量服务器即可支撑试点学校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6B88A1-F0B7-46A0-9E5C-BED2EC440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0080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8A8A8A"/>
                </a:solidFill>
              </a:defRPr>
            </a:pPr>
            <a:r>
              <a:rPr sz="900" b="0">
                <a:solidFill>
                  <a:srgbClr val="8A8A8A"/>
                </a:solidFill>
              </a:rPr>
              <a:t>杏坛智备 · 乡村教师 AI 备课助手 · 2027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6F6474F-6E4D-45E5-945E-AB7B7AA20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8A8A8A"/>
                </a:solidFill>
              </a:defRPr>
            </a:pPr>
            <a:r>
              <a:rPr sz="900" b="0">
                <a:solidFill>
                  <a:srgbClr val="8A8A8A"/>
                </a:solidFill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74999522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4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82C0F3-BA49-4668-B211-F6F653BDE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6B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EDF0F3-9053-4811-BA82-7964035A6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C2C2C"/>
                </a:solidFill>
              </a:defRPr>
            </a:pPr>
            <a:r>
              <a:rPr sz="3150" b="1">
                <a:solidFill>
                  <a:srgbClr val="2C2C2C"/>
                </a:solidFill>
              </a:rPr>
              <a:t>试点与真实数据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5BD05D-6AE9-4E3F-98A7-AFB99C4D2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33500"/>
            <a:ext cx="523875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309157-2527-49A5-862C-0D7268387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600200"/>
            <a:ext cx="466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E6B4F"/>
                </a:solidFill>
              </a:defRPr>
            </a:pPr>
            <a:r>
              <a:rPr sz="1800" b="1">
                <a:solidFill>
                  <a:srgbClr val="2E6B4F"/>
                </a:solidFill>
              </a:rPr>
              <a:t>当前进展（2026-08）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656266-8FDC-4651-907D-F432B905B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33600"/>
            <a:ext cx="4667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2C2C2C"/>
                </a:solidFill>
              </a:defRPr>
            </a:pPr>
            <a:r>
              <a:rPr sz="1350" b="0">
                <a:solidFill>
                  <a:srgbClr val="2C2C2C"/>
                </a:solidFill>
              </a:rPr>
              <a:t>• 4 份真实生成教案，质量分 92~96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147C0F-97EF-4E2D-94B3-EDC74C867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62250"/>
            <a:ext cx="4667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2C2C2C"/>
                </a:solidFill>
              </a:defRPr>
            </a:pPr>
            <a:r>
              <a:rPr sz="1350" b="0">
                <a:solidFill>
                  <a:srgbClr val="2C2C2C"/>
                </a:solidFill>
              </a:rPr>
              <a:t>• 50 册教材目录 + 课标/模板/乡土案例知识库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64BCB4-A994-4C83-94B2-9FAAA9801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90900"/>
            <a:ext cx="4667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2C2C2C"/>
                </a:solidFill>
              </a:defRPr>
            </a:pPr>
            <a:r>
              <a:rPr sz="1350" b="0">
                <a:solidFill>
                  <a:srgbClr val="2C2C2C"/>
                </a:solidFill>
              </a:rPr>
              <a:t>• 千问大模型实测：乡土案例自动融入情境导入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BF9F62-E731-43DD-99DF-0867639C2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19550"/>
            <a:ext cx="4667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2C2C2C"/>
                </a:solidFill>
              </a:defRPr>
            </a:pPr>
            <a:r>
              <a:rPr sz="1350" b="0">
                <a:solidFill>
                  <a:srgbClr val="2C2C2C"/>
                </a:solidFill>
              </a:rPr>
              <a:t>• 前后端已部署可运行，接口与埋点就绪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E66FB9-F045-406A-B24E-0FD296C6D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333500"/>
            <a:ext cx="523875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8ECDA1-2111-4567-8667-5F6070CDF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00200"/>
            <a:ext cx="466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E6B4F"/>
                </a:solidFill>
              </a:defRPr>
            </a:pPr>
            <a:r>
              <a:rPr sz="1800" b="1">
                <a:solidFill>
                  <a:srgbClr val="2E6B4F"/>
                </a:solidFill>
              </a:rPr>
              <a:t>试点计划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137749-AE1A-4607-B294-EA27BA93C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133600"/>
            <a:ext cx="4667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2C2C2C"/>
                </a:solidFill>
              </a:defRPr>
            </a:pPr>
            <a:r>
              <a:rPr sz="1275" b="0">
                <a:solidFill>
                  <a:srgbClr val="2C2C2C"/>
                </a:solidFill>
              </a:rPr>
              <a:t>试点 1（2026-12）</a:t>
            </a:r>
          </a:p>
          <a:p xmlns:a="http://schemas.openxmlformats.org/drawingml/2006/main">
            <a:pPr>
              <a:defRPr sz="1275" b="0">
                <a:solidFill>
                  <a:srgbClr val="2C2C2C"/>
                </a:solidFill>
              </a:defRPr>
            </a:pPr>
            <a:r>
              <a:rPr sz="1275" b="0">
                <a:solidFill>
                  <a:srgbClr val="2C2C2C"/>
                </a:solidFill>
              </a:rPr>
              <a:t>新乡周边乡村小学，30+ 教师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0916DC-FC3C-45E1-B9A7-0AA61F485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971800"/>
            <a:ext cx="4667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2C2C2C"/>
                </a:solidFill>
              </a:defRPr>
            </a:pPr>
            <a:r>
              <a:rPr sz="1275" b="0">
                <a:solidFill>
                  <a:srgbClr val="2C2C2C"/>
                </a:solidFill>
              </a:rPr>
              <a:t>试点 2（2027-02）</a:t>
            </a:r>
          </a:p>
          <a:p xmlns:a="http://schemas.openxmlformats.org/drawingml/2006/main">
            <a:pPr>
              <a:defRPr sz="1275" b="0">
                <a:solidFill>
                  <a:srgbClr val="2C2C2C"/>
                </a:solidFill>
              </a:defRPr>
            </a:pPr>
            <a:r>
              <a:rPr sz="1275" b="0">
                <a:solidFill>
                  <a:srgbClr val="2C2C2C"/>
                </a:solidFill>
              </a:rPr>
              <a:t>第二所学校（跨县），验证可复制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5A26DC-0E2D-42E6-803B-DA1D2A9A5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810000"/>
            <a:ext cx="4667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2C2C2C"/>
                </a:solidFill>
              </a:defRPr>
            </a:pPr>
            <a:r>
              <a:rPr sz="1275" b="0">
                <a:solidFill>
                  <a:srgbClr val="2C2C2C"/>
                </a:solidFill>
              </a:rPr>
              <a:t>试点 3（2027-05）</a:t>
            </a:r>
          </a:p>
          <a:p xmlns:a="http://schemas.openxmlformats.org/drawingml/2006/main">
            <a:pPr>
              <a:defRPr sz="1275" b="0">
                <a:solidFill>
                  <a:srgbClr val="2C2C2C"/>
                </a:solidFill>
              </a:defRPr>
            </a:pPr>
            <a:r>
              <a:rPr sz="1275" b="0">
                <a:solidFill>
                  <a:srgbClr val="2C2C2C"/>
                </a:solidFill>
              </a:rPr>
              <a:t>对接教育局，区域推广验证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EF6C3C-0679-4379-9A17-0B0C03F30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0080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8A8A8A"/>
                </a:solidFill>
              </a:defRPr>
            </a:pPr>
            <a:r>
              <a:rPr sz="900" b="0">
                <a:solidFill>
                  <a:srgbClr val="8A8A8A"/>
                </a:solidFill>
              </a:rPr>
              <a:t>杏坛智备 · 乡村教师 AI 备课助手 · 2027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215C61-6573-4B9B-86F7-D917C085F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8A8A8A"/>
                </a:solidFill>
              </a:defRPr>
            </a:pPr>
            <a:r>
              <a:rPr sz="900" b="0">
                <a:solidFill>
                  <a:srgbClr val="8A8A8A"/>
                </a:solidFill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92798798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4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1FF4898-E663-4624-8BFA-74DC89AAA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6B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4D654E-95C7-4980-831B-8E4ADAAAC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C2C2C"/>
                </a:solidFill>
              </a:defRPr>
            </a:pPr>
            <a:r>
              <a:rPr sz="3150" b="1">
                <a:solidFill>
                  <a:srgbClr val="2C2C2C"/>
                </a:solidFill>
              </a:rPr>
              <a:t>商业模式：公益 + 可持续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351497-EB5F-4BD0-8347-50F6C4531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2476500" cy="2857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A8574B-2C79-4BF6-B91F-E80EB8818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05000"/>
            <a:ext cx="2057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E6B4F"/>
                </a:solidFill>
              </a:defRPr>
            </a:pPr>
            <a:r>
              <a:rPr sz="1575" b="1">
                <a:solidFill>
                  <a:srgbClr val="2E6B4F"/>
                </a:solidFill>
              </a:rPr>
              <a:t>基础版 · 公益免费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27B2FF-BA23-4F6E-86B1-576BC8C62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33650"/>
            <a:ext cx="20574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8A8A8A"/>
                </a:solidFill>
              </a:defRPr>
            </a:pPr>
            <a:r>
              <a:rPr sz="1200" b="0">
                <a:solidFill>
                  <a:srgbClr val="8A8A8A"/>
                </a:solidFill>
              </a:rPr>
              <a:t>乡村教师无限量基础备课，0 成本接入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E5250F-FACD-45E1-A80D-0F43736C0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524000"/>
            <a:ext cx="2476500" cy="2857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167D6B-1653-42DA-8345-B74052B8F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905000"/>
            <a:ext cx="2057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E6B4F"/>
                </a:solidFill>
              </a:defRPr>
            </a:pPr>
            <a:r>
              <a:rPr sz="1575" b="1">
                <a:solidFill>
                  <a:srgbClr val="2E6B4F"/>
                </a:solidFill>
              </a:rPr>
              <a:t>学校版 · 增值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D3B72F-2F5A-4861-A0AB-CA288DF5E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533650"/>
            <a:ext cx="20574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8A8A8A"/>
                </a:solidFill>
              </a:defRPr>
            </a:pPr>
            <a:r>
              <a:rPr sz="1200" b="0">
                <a:solidFill>
                  <a:srgbClr val="8A8A8A"/>
                </a:solidFill>
              </a:rPr>
              <a:t>校本知识库、学情分析、教研报告，按校年费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567EC8-8548-43E6-9323-3EF5BFF13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524000"/>
            <a:ext cx="2476500" cy="2857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932EB4-BDAF-4900-B88B-BC886D45F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905000"/>
            <a:ext cx="2057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E6B4F"/>
                </a:solidFill>
              </a:defRPr>
            </a:pPr>
            <a:r>
              <a:rPr sz="1575" b="1">
                <a:solidFill>
                  <a:srgbClr val="2E6B4F"/>
                </a:solidFill>
              </a:rPr>
              <a:t>区域版 · 政府采购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4786C3-1826-49AA-87D5-E9AC82E81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533650"/>
            <a:ext cx="20574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8A8A8A"/>
                </a:solidFill>
              </a:defRPr>
            </a:pPr>
            <a:r>
              <a:rPr sz="1200" b="0">
                <a:solidFill>
                  <a:srgbClr val="8A8A8A"/>
                </a:solidFill>
              </a:rPr>
              <a:t>区域教研平台与质量监测，项目制采购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6BF319-E405-46D8-AF7D-F306A6D47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524000"/>
            <a:ext cx="2476500" cy="2857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B9267D-1FD2-49F6-B1AE-38A52F84A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1905000"/>
            <a:ext cx="2057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E6B4F"/>
                </a:solidFill>
              </a:defRPr>
            </a:pPr>
            <a:r>
              <a:rPr sz="1575" b="1">
                <a:solidFill>
                  <a:srgbClr val="2E6B4F"/>
                </a:solidFill>
              </a:rPr>
              <a:t>公益合作 · CSR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91E794-62B0-4664-B85B-E044FFA8B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533650"/>
            <a:ext cx="20574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8A8A8A"/>
                </a:solidFill>
              </a:defRPr>
            </a:pPr>
            <a:r>
              <a:rPr sz="1200" b="0">
                <a:solidFill>
                  <a:srgbClr val="8A8A8A"/>
                </a:solidFill>
              </a:rPr>
              <a:t>基金会与企业赞助，降低乡村学校负担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F8B0C0-848E-40B7-8A13-A0F5F5846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57750"/>
            <a:ext cx="108585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E9F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09AF23-0508-4A00-92CF-B1164EE4B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48250"/>
            <a:ext cx="1028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44C38"/>
                </a:solidFill>
              </a:defRPr>
            </a:pPr>
            <a:r>
              <a:rPr sz="1650" b="1">
                <a:solidFill>
                  <a:srgbClr val="244C38"/>
                </a:solidFill>
              </a:rPr>
              <a:t>愿景：让乡村教师用得起、学校接得住、区域推得开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C794001-DC3E-484A-9B21-25D7EEC22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0080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8A8A8A"/>
                </a:solidFill>
              </a:defRPr>
            </a:pPr>
            <a:r>
              <a:rPr sz="900" b="0">
                <a:solidFill>
                  <a:srgbClr val="8A8A8A"/>
                </a:solidFill>
              </a:rPr>
              <a:t>杏坛智备 · 乡村教师 AI 备课助手 · 2027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866276F-EDAC-4061-9317-D7B5DDC45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8A8A8A"/>
                </a:solidFill>
              </a:defRPr>
            </a:pPr>
            <a:r>
              <a:rPr sz="900" b="0">
                <a:solidFill>
                  <a:srgbClr val="8A8A8A"/>
                </a:solidFill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4558174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4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595054-7FA1-460F-8E41-AE30D744C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6B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2AFB34-8E80-4311-9540-F35DE13AF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C2C2C"/>
                </a:solidFill>
              </a:defRPr>
            </a:pPr>
            <a:r>
              <a:rPr sz="3150" b="1">
                <a:solidFill>
                  <a:srgbClr val="2C2C2C"/>
                </a:solidFill>
              </a:rPr>
              <a:t>社会价值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76A5D0-A7F5-478E-84C5-4CC8126CE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52387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816BAD-C645-4371-A61B-FA3DE1988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695450"/>
            <a:ext cx="190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E6B4F"/>
                </a:solidFill>
              </a:defRPr>
            </a:pPr>
            <a:r>
              <a:rPr sz="1950" b="1">
                <a:solidFill>
                  <a:srgbClr val="2E6B4F"/>
                </a:solidFill>
              </a:rPr>
              <a:t>教育公平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40F283-E8BC-44CB-823D-4B1B19D27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66950"/>
            <a:ext cx="4667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2C2C2C"/>
                </a:solidFill>
              </a:defRPr>
            </a:pPr>
            <a:r>
              <a:rPr sz="1350" b="0">
                <a:solidFill>
                  <a:srgbClr val="2C2C2C"/>
                </a:solidFill>
              </a:rPr>
              <a:t>让乡村教师用得起、用得好的 AI 备课工具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990207-3E4B-435D-8A96-F1AD0A1B7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428750"/>
            <a:ext cx="52387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FF680E-50E5-4509-A48F-884B9C8DF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95450"/>
            <a:ext cx="190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E6B4F"/>
                </a:solidFill>
              </a:defRPr>
            </a:pPr>
            <a:r>
              <a:rPr sz="1950" b="1">
                <a:solidFill>
                  <a:srgbClr val="2E6B4F"/>
                </a:solidFill>
              </a:rPr>
              <a:t>教师减负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A80ACE-0CA5-4C6A-A499-24A7F6539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266950"/>
            <a:ext cx="4667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2C2C2C"/>
                </a:solidFill>
              </a:defRPr>
            </a:pPr>
            <a:r>
              <a:rPr sz="1350" b="0">
                <a:solidFill>
                  <a:srgbClr val="2C2C2C"/>
                </a:solidFill>
              </a:rPr>
              <a:t>把时间从重复备课还给课堂与学生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161093-C1C2-4430-BDA9-0E677549F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0"/>
            <a:ext cx="52387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8BC8CE-91F7-4C1D-82EC-138AD77BD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86200"/>
            <a:ext cx="190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E6B4F"/>
                </a:solidFill>
              </a:defRPr>
            </a:pPr>
            <a:r>
              <a:rPr sz="1950" b="1">
                <a:solidFill>
                  <a:srgbClr val="2E6B4F"/>
                </a:solidFill>
              </a:rPr>
              <a:t>新课标落地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32C324-70AD-4D82-BA60-ADD4088D9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57700"/>
            <a:ext cx="4667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2C2C2C"/>
                </a:solidFill>
              </a:defRPr>
            </a:pPr>
            <a:r>
              <a:rPr sz="1350" b="0">
                <a:solidFill>
                  <a:srgbClr val="2C2C2C"/>
                </a:solidFill>
              </a:rPr>
              <a:t>课标对齐机制推动素养导向教学进乡村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C55AF5-DA4B-4B5B-8FE9-8AFFDB36F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19500"/>
            <a:ext cx="52387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3447A9-186D-48BA-AA77-5855BD53C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886200"/>
            <a:ext cx="190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E6B4F"/>
                </a:solidFill>
              </a:defRPr>
            </a:pPr>
            <a:r>
              <a:rPr sz="1950" b="1">
                <a:solidFill>
                  <a:srgbClr val="2E6B4F"/>
                </a:solidFill>
              </a:rPr>
              <a:t>可复制推广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91C0B1-0EDF-4033-9CE4-C0D9290A7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457700"/>
            <a:ext cx="4667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2C2C2C"/>
                </a:solidFill>
              </a:defRPr>
            </a:pPr>
            <a:r>
              <a:rPr sz="1350" b="0">
                <a:solidFill>
                  <a:srgbClr val="2C2C2C"/>
                </a:solidFill>
              </a:rPr>
              <a:t>产品化 + 标准化试点，可向中西部规模化复制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FA2386-0EA9-4276-8E0B-E2D54DD74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0080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8A8A8A"/>
                </a:solidFill>
              </a:defRPr>
            </a:pPr>
            <a:r>
              <a:rPr sz="900" b="0">
                <a:solidFill>
                  <a:srgbClr val="8A8A8A"/>
                </a:solidFill>
              </a:rPr>
              <a:t>杏坛智备 · 乡村教师 AI 备课助手 · 2027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5671A3-4E70-42BC-8811-A2384BC49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8A8A8A"/>
                </a:solidFill>
              </a:defRPr>
            </a:pPr>
            <a:r>
              <a:rPr sz="900" b="0">
                <a:solidFill>
                  <a:srgbClr val="8A8A8A"/>
                </a:solidFill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200227893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4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DB5CFE-5F97-4DF9-B472-A867FACA8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6B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9B93FE-AAB3-4C25-9B01-CB13BDA92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90750"/>
            <a:ext cx="1009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2E6B4F"/>
                </a:solidFill>
              </a:defRPr>
            </a:pPr>
            <a:r>
              <a:rPr sz="4800" b="1">
                <a:solidFill>
                  <a:srgbClr val="2E6B4F"/>
                </a:solidFill>
              </a:rPr>
              <a:t>让每一节乡村课</a:t>
            </a:r>
          </a:p>
          <a:p xmlns:a="http://schemas.openxmlformats.org/drawingml/2006/main">
            <a:pPr>
              <a:defRPr sz="4800" b="1">
                <a:solidFill>
                  <a:srgbClr val="2E6B4F"/>
                </a:solidFill>
              </a:defRPr>
            </a:pPr>
            <a:r>
              <a:rPr sz="4800" b="1">
                <a:solidFill>
                  <a:srgbClr val="2E6B4F"/>
                </a:solidFill>
              </a:rPr>
              <a:t>都备得起、备得好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024FA3-119E-42F4-B6B9-A61E0C1AD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905250"/>
            <a:ext cx="857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C2C2C"/>
                </a:solidFill>
              </a:defRPr>
            </a:pPr>
            <a:r>
              <a:rPr sz="1950" b="0">
                <a:solidFill>
                  <a:srgbClr val="2C2C2C"/>
                </a:solidFill>
              </a:rPr>
              <a:t>杏坛智备 · 乡村教师 AI 备课助手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6FB709-5F53-47B1-8E87-17C1EA1FD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76750"/>
            <a:ext cx="857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8A8A8A"/>
                </a:solidFill>
              </a:defRPr>
            </a:pPr>
            <a:r>
              <a:rPr sz="1500" b="0">
                <a:solidFill>
                  <a:srgbClr val="8A8A8A"/>
                </a:solidFill>
              </a:rPr>
              <a:t>青年红色筑梦之旅 · 2027 · 敬请指正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90A5F2-21DD-4017-BC11-80BD270B6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0080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8A8A8A"/>
                </a:solidFill>
              </a:defRPr>
            </a:pPr>
            <a:r>
              <a:rPr sz="900" b="0">
                <a:solidFill>
                  <a:srgbClr val="8A8A8A"/>
                </a:solidFill>
              </a:rPr>
              <a:t>杏坛智备 · 乡村教师 AI 备课助手 · 2027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288171-3F00-461B-9409-6D3E268B4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8A8A8A"/>
                </a:solidFill>
              </a:defRPr>
            </a:pPr>
            <a:r>
              <a:rPr sz="900" b="0">
                <a:solidFill>
                  <a:srgbClr val="8A8A8A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4565809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2026-08-07T10:40:35.6800000Z</dcterms:created>
  <dcterms:modified xsi:type="dcterms:W3CDTF">2026-08-07T10:40:35.6800000Z</dcterms:modified>
</coreProperties>
</file>